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560320"/>
            <a:ext cx="5760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2E8F0"/>
                </a:solidFill>
                <a:latin typeface="Meiryo"/>
              </a:defRPr>
            </a:pPr>
            <a:r>
              <a:t>商用車リースバック価格最適化システム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eiryo"/>
              </a:defRPr>
            </a:pPr>
            <a:r>
              <a:t>CVLPOS — Commercial Vehicle Leaseback Price Optimization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60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Meiryo"/>
              </a:defRPr>
            </a:pPr>
            <a:r>
              <a:t>API連携・スクレイピング拡張 開発提案書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eiryo"/>
              </a:defRPr>
            </a:pPr>
            <a:r>
              <a:t>Carchs Inc.  |  2026年4月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エグゼクティブサマリー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本提案の3つの柱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オークションAPI連携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5つのオークションサイトとAPI接続し、</a:t>
            </a:r>
            <a:br/>
            <a:r>
              <a:t>B2B卸売価格をリアルタイム取得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競合サイトスクレイピング拡張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5つの中古トラック販売サイトから</a:t>
            </a:r>
            <a:br/>
            <a:r>
              <a:t>小売価格を自動収集・正規化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B2B卸売価格推定エンジン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複数データソースを統合し、</a:t>
            </a:r>
            <a:br/>
            <a:r>
              <a:t>精度±0.1%の資産評価を実現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現状と課題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eiryo"/>
              </a:defRPr>
            </a:pPr>
            <a:r>
              <a:t>現状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2サイトのみスクレイピング（truck-kingdom, steerlink）</a:t>
            </a:r>
            <a:br/>
            <a:r>
              <a:t>手動調査に大きく依存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33832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データソース不足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B2B価格データへのアクセスなし</a:t>
            </a:r>
            <a:br/>
            <a:r>
              <a:t>市場カバレッジが限定的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0040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20040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474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B2B価格の推定精度不足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233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推定誤差±15%</a:t>
            </a:r>
            <a:br/>
            <a:r>
              <a:t>投資判断に影響するリスク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0040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20040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474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手動調査への依存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233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1案件あたり2時間の調査時間</a:t>
            </a:r>
            <a:br/>
            <a:r>
              <a:t>人的ミスのリスク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提案ソリューション概要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12データソース統合アーキテクチャ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eiryo"/>
              </a:defRPr>
            </a:pPr>
            <a:r>
              <a:t>データソース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Auction APIs 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27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USS / アライ / TAA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JU / HAA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3075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Retail Sites (5)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グーネット / カーセンサー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33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トラックバンク / ゴーゴー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BIGトラック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Existing 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truck-kingdom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steerlink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286000"/>
            <a:ext cx="22860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2286000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eiryo"/>
              </a:defRPr>
            </a:pPr>
            <a:r>
              <a:t>フィルタエンジン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26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データ検証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272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重複排除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32841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フォーマット正規化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52958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品質スコアリング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286000"/>
            <a:ext cx="22860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286000"/>
            <a:ext cx="2286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eiryo"/>
              </a:defRPr>
            </a:pPr>
            <a:r>
              <a:t>正規化DB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926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Supabase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272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統合車両テーブル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32841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価格履歴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52958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市場指標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2286000"/>
            <a:ext cx="22860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22860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eiryo"/>
              </a:defRPr>
            </a:pPr>
            <a:r>
              <a:t>プライシング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926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B2B Wholesale Floor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1272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LTV計算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32841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信頼度スコア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52958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異常値検知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合計 12 データソースからの統合プライシングを実現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オークションAPI連携 — 対象サイト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B2B卸売価格の直接取得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eiryo"/>
              </a:defRPr>
            </a:pPr>
            <a:r>
              <a:t>サイト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eiryo"/>
              </a:defRPr>
            </a:pPr>
            <a:r>
              <a:t>API種別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eiryo"/>
              </a:defRPr>
            </a:pPr>
            <a:r>
              <a:t>年間取引台数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eiryo"/>
              </a:defRPr>
            </a:pPr>
            <a:r>
              <a:t>優先度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eiryo"/>
              </a:defRPr>
            </a:pPr>
            <a:r>
              <a:t>備考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USS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約200万台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Meiryo"/>
              </a:defRPr>
            </a:pPr>
            <a:r>
              <a:t>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業界最大手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アライオートオークション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商用車特化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Meiryo"/>
              </a:defRPr>
            </a:pPr>
            <a: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トラック専門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4048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TAA（トヨタ）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REST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トヨタ系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Meiryo"/>
              </a:defRPr>
            </a:pPr>
            <a: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トヨタ車充実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66344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54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JU（全国中古車）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754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Web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4754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地方AA網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548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Meiryo"/>
              </a:defRPr>
            </a:pPr>
            <a:r>
              <a:t>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7548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地方カバー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HAA（ホンダ）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ホンダ系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eiryo"/>
              </a:defRPr>
            </a:pPr>
            <a:r>
              <a:t>ホンダ車中心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オークションAPI — 技術アーキテクチャ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eiryo"/>
              </a:defRPr>
            </a:pPr>
            <a:r>
              <a:t>API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eiryo"/>
              </a:defRPr>
            </a:pPr>
            <a:r>
              <a:t>認証・リクエスト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46304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eiryo"/>
              </a:defRPr>
            </a:pPr>
            <a:r>
              <a:t>Rate Limiter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eiryo"/>
              </a:defRPr>
            </a:pPr>
            <a:r>
              <a:t>流量制御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46304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eiryo"/>
              </a:defRPr>
            </a:pPr>
            <a:r>
              <a:t>Data 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eiryo"/>
              </a:defRPr>
            </a:pPr>
            <a:r>
              <a:t>レスポンス解析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46304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46304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Meiryo"/>
              </a:defRPr>
            </a:pPr>
            <a:r>
              <a:t>Normalizer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eiryo"/>
              </a:defRPr>
            </a:pPr>
            <a:r>
              <a:t>データ正規化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46304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eiryo"/>
              </a:defRPr>
            </a:pPr>
            <a:r>
              <a:t>Supabase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eiryo"/>
              </a:defRPr>
            </a:pPr>
            <a:r>
              <a:t>永続化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29184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291840"/>
            <a:ext cx="3383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eiryo"/>
              </a:defRPr>
            </a:pPr>
            <a:r>
              <a:t>認証方式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0233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API Key / OAuth2.0</a:t>
            </a:r>
            <a:br/>
            <a:r>
              <a:t>サイトごとに最適な認証を選択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29184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329184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eiryo"/>
              </a:defRPr>
            </a:pPr>
            <a:r>
              <a:t>実行スケジュール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0233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日次バッチ: 毎日 AM 3:00</a:t>
            </a:r>
            <a:br/>
            <a:r>
              <a:t>リアルタイム: Webhook連携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29184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329184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eiryo"/>
              </a:defRPr>
            </a:pPr>
            <a:r>
              <a:t>エラーハンドリング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0233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Exponential Backoff</a:t>
            </a:r>
            <a:br/>
            <a:r>
              <a:t>Circuit Breaker パターン</a:t>
            </a:r>
            <a:br/>
            <a:r>
              <a:t>自動リトライ（最大3回）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オークションAPI — 取得データ項目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B2B Wholesale Floor の基礎データ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成約価格（落札価格）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実際の取引価格。B2B卸売価格の最も信頼性の高い指標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車両評価点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S, 6, 5, 4, 3, 2, 1, R, RA の9段階。車両状態の定量評価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5212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出品車両スペック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メーカー、年式、走行距離、架装タイプ、排気量等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212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73152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修復歴フラグ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修復歴の有無。価格に15-30%の影響を与える重要因子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73152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出品地域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地域別の需給バランスによる価格差（3-8%）の補正に使用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75488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92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出品・成約日時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492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時系列分析による季節変動・トレンド把握に活用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eiryo"/>
              </a:defRPr>
            </a:pPr>
            <a:r>
              <a:t>→ これらのデータを統合し、B2B Wholesale Floor を高精度に算出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競合サイトスクレイピング — 対象サイト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小売価格データの収集・正規化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グーネット商用車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リクルート系、最大級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eiryo"/>
              </a:defRPr>
            </a:pPr>
            <a:r>
              <a:t>想定掲載台数: ~5,000台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eiryo"/>
              </a:defRPr>
            </a:pPr>
            <a:r>
              <a:t>自動スクレイピング対象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カーセンサー商用車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リクルート系、状態情報充実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eiryo"/>
              </a:defRPr>
            </a:pPr>
            <a:r>
              <a:t>想定掲載台数: ~3,000台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eiryo"/>
              </a:defRPr>
            </a:pPr>
            <a:r>
              <a:t>自動スクレイピング対象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トラックバンク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業者間取引多い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eiryo"/>
              </a:defRPr>
            </a:pPr>
            <a:r>
              <a:t>想定掲載台数: ~4,000台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eiryo"/>
              </a:defRPr>
            </a:pPr>
            <a:r>
              <a:t>自動スクレイピング対象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33832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0624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434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ゴーゴートラック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8347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老舗、個人/業者混在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想定掲載台数: ~2,000台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943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eiryo"/>
              </a:defRPr>
            </a:pPr>
            <a:r>
              <a:t>自動スクレイピング対象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206240"/>
            <a:ext cx="33832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420624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434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BIGトラック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98347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架装情報充実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486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eiryo"/>
              </a:defRPr>
            </a:pPr>
            <a:r>
              <a:t>想定掲載台数: ~1,500台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943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eiryo"/>
              </a:defRPr>
            </a:pPr>
            <a:r>
              <a:t>自動スクレイピング対象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合計 約15,500台 の小売価格データを自動収集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価格正規化エンジン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4つの補正レイヤーによる精密な価格正規化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eiryo"/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地域別価格補正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都市部 vs 地方: 3-8%の価格差</a:t>
            </a:r>
            <a:br/>
            <a:r>
              <a:t>東京を基準とした補正係数を適用</a:t>
            </a:r>
            <a:br/>
            <a:r>
              <a:t>月次で補正係数を更新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63040"/>
            <a:ext cx="265176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eiryo"/>
              </a:defRPr>
            </a:pPr>
            <a: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季節変動補正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年度末3月: +5-10%（決算需要）</a:t>
            </a:r>
            <a:br/>
            <a:r>
              <a:t>夏期8月: -3-5%（需要減）</a:t>
            </a:r>
            <a:br/>
            <a:r>
              <a:t>過去5年のトレンドを学習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265176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eiryo"/>
              </a:defRPr>
            </a:pPr>
            <a:r>
              <a:t>Layer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在庫日数補正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517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30日以上: 推定-5%/月</a:t>
            </a:r>
            <a:br/>
            <a:r>
              <a:t>長期在庫の価格劣化を反映</a:t>
            </a:r>
            <a:br/>
            <a:r>
              <a:t>売れ残り車両の適正値を推定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63040"/>
            <a:ext cx="265176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Meiryo"/>
              </a:defRPr>
            </a:pPr>
            <a:r>
              <a:t>Layer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ソース信頼度の重み付け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オークション成約: 1.0</a:t>
            </a:r>
            <a:br/>
            <a:r>
              <a:t>業者間取引: 0.8</a:t>
            </a:r>
            <a:br/>
            <a:r>
              <a:t>小売価格: 0.6</a:t>
            </a:r>
            <a:br/>
            <a:r>
              <a:t>信頼度による重み付け平均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B2B卸売価格推定エンジン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統計的手法による高精度な価格推定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645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eiryo"/>
              </a:defRPr>
            </a:pPr>
            <a:r>
              <a:t>推定式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Meiryo"/>
              </a:defRPr>
            </a:pPr>
            <a:r>
              <a:t>b2b_wholesale_floor = Percentile(filtered_prices, 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eiryo"/>
              </a:defRPr>
            </a:pPr>
            <a:r>
              <a:t>フィルタ済み価格群の25パーセンタイル値を B2B 卸売底値として採用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3832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3383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eiryo"/>
              </a:defRPr>
            </a:pPr>
            <a:r>
              <a:t>IQR外れ値除去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四分位範囲(IQR)の1.5倍を超える</a:t>
            </a:r>
            <a:br/>
            <a:r>
              <a:t>価格を自動除外し、信頼性を確保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474720"/>
            <a:ext cx="33832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47472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eiryo"/>
              </a:defRPr>
            </a:pPr>
            <a:r>
              <a:t>LTV 60%ルール統合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062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b2b_wholesale_floor × 60% = LTV</a:t>
            </a:r>
            <a:br/>
            <a:r>
              <a:t>ファンド基準の安全率を適用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474720"/>
            <a:ext cx="33832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474720"/>
            <a:ext cx="3383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eiryo"/>
              </a:defRPr>
            </a:pPr>
            <a:r>
              <a:t>信頼度スコアリング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062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データ件数・ソース多様性・</a:t>
            </a:r>
            <a:br/>
            <a:r>
              <a:t>鮮度に基づく信頼度を0-100で評価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開発スコープ — Phase 1 (MVP)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7432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期間: 6週間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2026年5月〜6月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USS API連携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業界最大手USSのAPIと接続</a:t>
            </a:r>
            <a:br/>
            <a:r>
              <a:t>成約価格データのリアルタイム取得</a:t>
            </a:r>
            <a:br/>
            <a:r>
              <a:t>日次バッチ処理の構築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グーネット/カーセンサー</a:t>
            </a:r>
            <a:br/>
            <a:r>
              <a:t>スクレイピング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2大ポータルサイトのスクレイピング</a:t>
            </a:r>
            <a:br/>
            <a:r>
              <a:t>商用車カテゴリに特化</a:t>
            </a:r>
            <a:br/>
            <a:r>
              <a:t>データ正規化パイプライン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56032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正規化エンジン基盤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661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4つの補正レイヤーの基盤実装</a:t>
            </a:r>
            <a:br/>
            <a:r>
              <a:t>B2B価格自動推定</a:t>
            </a:r>
            <a:br/>
            <a:r>
              <a:t>LTV自動計算の統合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400800"/>
            <a:ext cx="1069848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成果物: B2B価格自動取得 + LTV自動計算  →  即座にビジネス価値を提供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開発スコープ — Phase 2 (拡張)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74320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期間: 4週間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2026年7月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残り3 API連携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アライ / TAA / JU / HAA</a:t>
            </a:r>
            <a:br/>
            <a:r>
              <a:t>オークションAPIの完全カバー</a:t>
            </a:r>
            <a:br/>
            <a:r>
              <a:t>各サイト固有の認証対応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3サイトスクレイピング追加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トラックバンク</a:t>
            </a:r>
            <a:br/>
            <a:r>
              <a:t>ゴーゴートラック</a:t>
            </a:r>
            <a:br/>
            <a:r>
              <a:t>BIGトラック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56032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クロスサイト統合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12データソースの統合</a:t>
            </a:r>
            <a:br/>
            <a:r>
              <a:t>クロスリファレンス機能</a:t>
            </a:r>
            <a:br/>
            <a:r>
              <a:t>データ品質ダッシュボード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400800"/>
            <a:ext cx="106984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成果物: 12データソース統合プライシング  →  市場カバレッジの最大化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開発スコープ — Phase 3 (最適化)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7432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期間: 3週間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2026年8月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機械学習モデル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Gradient Boosting / LGBM</a:t>
            </a:r>
            <a:br/>
            <a:r>
              <a:t>特徴量エンジニアリング</a:t>
            </a:r>
            <a:br/>
            <a:r>
              <a:t>モデルの自動再学習パイプライン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予測精度向上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精度目標: ±0.1%</a:t>
            </a:r>
            <a:br/>
            <a:r>
              <a:t>バックテスト検証</a:t>
            </a:r>
            <a:br/>
            <a:r>
              <a:t>A/Bテストフレームワーク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3832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56032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ダッシュボード拡張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リアルタイム市場モニタリング</a:t>
            </a:r>
            <a:br/>
            <a:r>
              <a:t>価格トレンド可視化</a:t>
            </a:r>
            <a:br/>
            <a:r>
              <a:t>アラート通知機能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400800"/>
            <a:ext cx="1069848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成果物: 予測精度±0.1%達成  →  業界最高水準の価格推定を実現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開発体制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Meiryo"/>
              </a:defRPr>
            </a:pPr>
            <a:r>
              <a:t>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Meiryo"/>
              </a:defRPr>
            </a:pPr>
            <a:r>
              <a:t>1名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eiryo"/>
              </a:defRPr>
            </a:pPr>
            <a:r>
              <a:t>プロジェクト管理</a:t>
            </a:r>
            <a:br/>
            <a:r>
              <a:t>ステークホルダー調整</a:t>
            </a:r>
            <a:br/>
            <a:r>
              <a:t>進捗管理・報告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Meiryo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Meiryo"/>
              </a:defRPr>
            </a:pPr>
            <a:r>
              <a:t>2名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eiryo"/>
              </a:defRPr>
            </a:pPr>
            <a:r>
              <a:t>API連携開発</a:t>
            </a:r>
            <a:br/>
            <a:r>
              <a:t>正規化エンジン</a:t>
            </a:r>
            <a:br/>
            <a:r>
              <a:t>価格推定ロジック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6517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eiryo"/>
              </a:defRPr>
            </a:pPr>
            <a:r>
              <a:t>Scraping Eng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Meiryo"/>
              </a:defRPr>
            </a:pPr>
            <a:r>
              <a:t>1名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eiryo"/>
              </a:defRPr>
            </a:pPr>
            <a:r>
              <a:t>スクレイピング開発</a:t>
            </a:r>
            <a:br/>
            <a:r>
              <a:t>データパイプライン</a:t>
            </a:r>
            <a:br/>
            <a:r>
              <a:t>品質監視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371600"/>
            <a:ext cx="265176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eiryo"/>
              </a:defRPr>
            </a:pPr>
            <a:r>
              <a:t>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Meiryo"/>
              </a:defRPr>
            </a:pPr>
            <a:r>
              <a:t>1名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eiryo"/>
              </a:defRPr>
            </a:pPr>
            <a:r>
              <a:t>テスト設計・実行</a:t>
            </a:r>
            <a:br/>
            <a:r>
              <a:t>データ検証</a:t>
            </a:r>
            <a:br/>
            <a:r>
              <a:t>回帰テスト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056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eiryo"/>
              </a:defRPr>
            </a:pPr>
            <a:r>
              <a:t>開発手法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アジャイル開発（2週間スプリント）</a:t>
            </a:r>
            <a:br/>
            <a:r>
              <a:t>デイリースタンドアップ</a:t>
            </a:r>
            <a:br/>
            <a:r>
              <a:t>スプリントレビュー・レトロスペクティブ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480560"/>
            <a:ext cx="52120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572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eiryo"/>
              </a:defRPr>
            </a:pPr>
            <a:r>
              <a:t>開発ツール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292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GitHub (ソースコード管理)</a:t>
            </a:r>
            <a:br/>
            <a:r>
              <a:t>Vercel (フロントエンドデプロイ)</a:t>
            </a:r>
            <a:br/>
            <a:r>
              <a:t>Supabase (データベース)</a:t>
            </a:r>
            <a:br/>
            <a:r>
              <a:t>GitHub Actions (CI/CD)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概算見積もり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単価: ¥1,500,000/人月（税別）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eiryo"/>
              </a:defRPr>
            </a:pPr>
            <a:r>
              <a:t>フェーズ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eiryo"/>
              </a:defRPr>
            </a:pPr>
            <a:r>
              <a:t>期間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eiryo"/>
              </a:defRPr>
            </a:pPr>
            <a:r>
              <a:t>人月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eiryo"/>
              </a:defRPr>
            </a:pPr>
            <a:r>
              <a:t>概算費用（税別）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Phase 1 (MVP)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6週間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7.5人月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¥11,250,000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Phase 2 (拡張)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4週間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5.0人月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¥7,500,000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73152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Phase 3 (最適化)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3週間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3.5人月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Meiryo"/>
              </a:defRPr>
            </a:pPr>
            <a:r>
              <a:t>¥5,250,000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E8F0"/>
                </a:solidFill>
                <a:latin typeface="Meiryo"/>
              </a:defRPr>
            </a:pPr>
            <a:r>
              <a:t>合計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E8F0"/>
                </a:solidFill>
                <a:latin typeface="Meiryo"/>
              </a:defRPr>
            </a:pPr>
            <a:r>
              <a:t>13週間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E8F0"/>
                </a:solidFill>
                <a:latin typeface="Meiryo"/>
              </a:defRPr>
            </a:pPr>
            <a:r>
              <a:t>16人月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eiryo"/>
              </a:defRPr>
            </a:pPr>
            <a:r>
              <a:t>¥24,000,000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投資対効果（ROI）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導入による具体的なビジネスインパクト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査定精度向上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Before: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Meiryo"/>
              </a:defRPr>
            </a:pPr>
            <a:r>
              <a:t>現行 ±15%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After: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eiryo"/>
              </a:defRPr>
            </a:pPr>
            <a:r>
              <a:t>目標 ±3%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eiryo"/>
              </a:defRPr>
            </a:pPr>
            <a:r>
              <a:t>5倍改善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精度向上により、過大/過少評価の</a:t>
            </a:r>
            <a:br/>
            <a:r>
              <a:t>リスクを大幅に低減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6304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業務時間削減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86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Before: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560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Meiryo"/>
              </a:defRPr>
            </a:pPr>
            <a:r>
              <a:t>1案件 2時間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After: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91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eiryo"/>
              </a:defRPr>
            </a:pPr>
            <a:r>
              <a:t>1案件 15分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40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Meiryo"/>
              </a:defRPr>
            </a:pPr>
            <a:r>
              <a:t>87%削減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手動調査の自動化により</a:t>
            </a:r>
            <a:br/>
            <a:r>
              <a:t>査定スピードを飛躍的に向上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46304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ファンド損失防止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286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Before: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60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Meiryo"/>
              </a:defRPr>
            </a:pPr>
            <a:r>
              <a:t>リスク大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After: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91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eiryo"/>
              </a:defRPr>
            </a:pPr>
            <a:r>
              <a:t>リスク最小化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40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Meiryo"/>
              </a:defRPr>
            </a:pPr>
            <a:r>
              <a:t>年間¥50M+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データに基づく適正評価で</a:t>
            </a:r>
            <a:br/>
            <a:r>
              <a:t>ファンド投資家を保護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リスクと対策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オークションAPI利用規約変更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08760"/>
            <a:ext cx="10972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5361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eiryo"/>
              </a:defRPr>
            </a:pPr>
            <a:r>
              <a:t>影響度: 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eiryo"/>
              </a:defRPr>
            </a:pPr>
            <a:r>
              <a:t>対策: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複数ソースによる冗長化</a:t>
            </a:r>
            <a:br/>
            <a:r>
              <a:t>特定APIへの依存度を分散</a:t>
            </a:r>
            <a:br/>
            <a:r>
              <a:t>規約変更の早期検知体制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スクレイピング対象サイト構造変更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246120"/>
            <a:ext cx="109728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273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eiryo"/>
              </a:defRPr>
            </a:pPr>
            <a:r>
              <a:t>影響度: 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200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eiryo"/>
              </a:defRPr>
            </a:pPr>
            <a:r>
              <a:t>対策: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2044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セレクタ抽象化レイヤー</a:t>
            </a:r>
            <a:br/>
            <a:r>
              <a:t>自動アラート監視</a:t>
            </a:r>
            <a:br/>
            <a:r>
              <a:t>変更検知後24h以内の修正体制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データ品質低下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4983480"/>
            <a:ext cx="10972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5010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eiryo"/>
              </a:defRPr>
            </a:pPr>
            <a:r>
              <a:t>影響度: 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93775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Meiryo"/>
              </a:defRPr>
            </a:pPr>
            <a:r>
              <a:t>対策: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25780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自動品質スコアリング</a:t>
            </a:r>
            <a:br/>
            <a:r>
              <a:t>異常検知アルゴリズム</a:t>
            </a:r>
            <a:br/>
            <a:r>
              <a:t>日次品質レポートの自動送信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スケジュール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2026年4月〜9月（約6ヶ月間）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463040"/>
            <a:ext cx="14630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508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4月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14630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5月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63040"/>
            <a:ext cx="14630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508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6月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463040"/>
            <a:ext cx="14630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7月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463040"/>
            <a:ext cx="14630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08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8月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1463040"/>
            <a:ext cx="14630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1508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Meiryo"/>
              </a:defRPr>
            </a:pPr>
            <a:r>
              <a:t>9月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331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Meiryo"/>
              </a:defRPr>
            </a:pPr>
            <a:r>
              <a:t>要件定義・設計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2286000"/>
            <a:ext cx="16459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Meiryo"/>
              </a:defRPr>
            </a:pPr>
            <a:r>
              <a:t>Phase 1 (MVP) 開発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063240"/>
            <a:ext cx="32918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886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Meiryo"/>
              </a:defRPr>
            </a:pPr>
            <a:r>
              <a:t>Phase 2 (拡張) 開発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384048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Meiryo"/>
              </a:defRPr>
            </a:pPr>
            <a:r>
              <a:t>Phase 3 (最適化)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617720"/>
            <a:ext cx="1152144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440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Meiryo"/>
              </a:defRPr>
            </a:pPr>
            <a:r>
              <a:t>テスト・検証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5394960"/>
            <a:ext cx="1645920" cy="54864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217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Meiryo"/>
              </a:defRPr>
            </a:pPr>
            <a:r>
              <a:t>本番リリース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6172200"/>
            <a:ext cx="493776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本番リリース目標: 2026年9月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eiryo"/>
              </a:defRPr>
            </a:pPr>
            <a:r>
              <a:t>なぜ今やるべきか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3つの市場環境が追い風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運送業界のキャッシュ需要急増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2024年問題（働き方改革関連法）により、</a:t>
            </a:r>
            <a:br/>
            <a:r>
              <a:t>運送業界の構造転換が進行中。</a:t>
            </a:r>
            <a:br/>
            <a:br/>
            <a:r>
              <a:t>車両の買い替え・リースバック需要が</a:t>
            </a:r>
            <a:br/>
            <a:r>
              <a:t>急速に拡大しており、迅速かつ正確な</a:t>
            </a:r>
            <a:br/>
            <a:r>
              <a:t>査定体制が不可欠。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競合に対する先行優位の確立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データ駆動型の資産評価はまだ業界標準</a:t>
            </a:r>
            <a:br/>
            <a:r>
              <a:t>になっていない。</a:t>
            </a:r>
            <a:br/>
            <a:br/>
            <a:r>
              <a:t>今、12データソース統合基盤を構築</a:t>
            </a:r>
            <a:br/>
            <a:r>
              <a:t>することで、競合他社が追随できない</a:t>
            </a:r>
            <a:br/>
            <a:r>
              <a:t>参入障壁を築くことが可能。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eiryo"/>
              </a:defRPr>
            </a:pPr>
            <a:r>
              <a:t>既存システム基盤の活用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CVLPOS の基盤（Supabase, Next.js, </a:t>
            </a:r>
            <a:br/>
            <a:r>
              <a:t>スクレイピング基盤）は既に整備済み。</a:t>
            </a:r>
            <a:br/>
            <a:br/>
            <a:r>
              <a:t>追加開発のみで実現可能なため、</a:t>
            </a:r>
            <a:br/>
            <a:r>
              <a:t>ゼロからの構築と比べ大幅にコスト・</a:t>
            </a:r>
            <a:br/>
            <a:r>
              <a:t>期間を圧縮可能。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1828800"/>
            <a:ext cx="4846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2E8F0"/>
                </a:solidFill>
                <a:latin typeface="Meiryo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697480"/>
            <a:ext cx="4846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3017520"/>
            <a:ext cx="75895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0632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eiryo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0632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本提案書の承認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ステークホルダーによるレビュー・承認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114800"/>
            <a:ext cx="75895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411480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160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eiryo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API利用契約の締結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USS等オークションサイトとの契約手続き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212079"/>
            <a:ext cx="75895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5212079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52577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2577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Meiryo"/>
              </a:defRPr>
            </a:pPr>
            <a:r>
              <a:t>Phase 1 開発キックオフ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6692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eiryo"/>
              </a:defRPr>
            </a:pPr>
            <a:r>
              <a:t>2026年5月予定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eiryo"/>
              </a:defRPr>
            </a:pPr>
            <a:r>
              <a:t>Carchs Inc.  |  お問い合わせをお待ちしております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